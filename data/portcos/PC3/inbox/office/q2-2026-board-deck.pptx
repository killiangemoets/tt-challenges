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($M)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A22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Q3-25</c:v>
                  </c:pt>
                  <c:pt idx="1">
                    <c:v>Q4-25</c:v>
                  </c:pt>
                  <c:pt idx="2">
                    <c:v>Q1-26</c:v>
                  </c:pt>
                  <c:pt idx="3">
                    <c:v>Q2-26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28.2</c:v>
                </c:pt>
                <c:pt idx="1">
                  <c:v>29.1</c:v>
                </c:pt>
                <c:pt idx="2">
                  <c:v>29.9</c:v>
                </c:pt>
                <c:pt idx="3">
                  <c:v>30.5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A22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7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79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B"/>
        </a:solidFill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 CAPITAL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TALENT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Ridgeline Freight &amp; Logistics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520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· Regional LTL + 3PL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4206240"/>
            <a:ext cx="2253996" cy="457200"/>
          </a:xfrm>
          <a:prstGeom prst="roundRect">
            <a:avLst>
              <a:gd name="adj" fmla="val 16000"/>
            </a:avLst>
          </a:prstGeom>
          <a:solidFill>
            <a:srgbClr val="2E9E5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206240"/>
            <a:ext cx="2253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· ON PLAN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Board Review  ·  Generated 13 Jun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38404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company stands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1790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well-run team on plan; the headline watch item is orderly CEO succession.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68880"/>
            <a:ext cx="2697480" cy="10972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880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$30.5M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21792" y="388620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(target $34M)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1568" y="24688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2468880"/>
            <a:ext cx="2697480" cy="10972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2880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66160" y="388620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density (target +12%)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45936" y="24688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45936" y="2468880"/>
            <a:ext cx="2697480" cy="109728"/>
          </a:xfrm>
          <a:prstGeom prst="rect">
            <a:avLst/>
          </a:prstGeom>
          <a:solidFill>
            <a:srgbClr val="E0A415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2880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510528" y="388620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turnover (from 70%)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90304" y="246888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90304" y="2468880"/>
            <a:ext cx="2697480" cy="10972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0" name="Text 18"/>
          <p:cNvSpPr/>
          <p:nvPr/>
        </p:nvSpPr>
        <p:spPr>
          <a:xfrm>
            <a:off x="9290304" y="28803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454896" y="388620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Tuck-in terminal in diligence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565392"/>
            <a:ext cx="2011680" cy="29260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 CAPITAL  ·  Portfolio Talent Review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6249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  ·  Q2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38404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EBITDA run-rate by quarter ($M)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75895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737360"/>
            <a:ext cx="3200400" cy="42976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73252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READ-THROUGH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732520" y="2331720"/>
            <a:ext cx="2743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well-run team on plan; the headline watch item is orderly CEO succession.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565392"/>
            <a:ext cx="2011680" cy="29260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 CAPITAL  ·  Portfolio Talent Review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16249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  ·  Q2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38404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VALUE-CREATION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Workstream status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09728" cy="64008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density / network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0664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378440" y="1911096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2E9E5B"/>
          </a:solidFill>
          <a:ln/>
        </p:spPr>
      </p:sp>
      <p:sp>
        <p:nvSpPr>
          <p:cNvPr id="10" name="Text 8"/>
          <p:cNvSpPr/>
          <p:nvPr/>
        </p:nvSpPr>
        <p:spPr>
          <a:xfrm>
            <a:off x="10378440" y="1911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32888"/>
            <a:ext cx="109728" cy="64008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3288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+ telematics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06640" y="25328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Fleet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378440" y="2660904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2E9E5B"/>
          </a:solidFill>
          <a:ln/>
        </p:spPr>
      </p:sp>
      <p:sp>
        <p:nvSpPr>
          <p:cNvPr id="16" name="Text 14"/>
          <p:cNvSpPr/>
          <p:nvPr/>
        </p:nvSpPr>
        <p:spPr>
          <a:xfrm>
            <a:off x="10378440" y="26609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82696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82696"/>
            <a:ext cx="109728" cy="64008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82696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Tuck-in terminal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6640" y="328269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+ CFO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378440" y="3410712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2E9E5B"/>
          </a:solidFill>
          <a:ln/>
        </p:spPr>
      </p:sp>
      <p:sp>
        <p:nvSpPr>
          <p:cNvPr id="22" name="Text 20"/>
          <p:cNvSpPr/>
          <p:nvPr/>
        </p:nvSpPr>
        <p:spPr>
          <a:xfrm>
            <a:off x="10378440" y="34107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032504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32504"/>
            <a:ext cx="109728" cy="64008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03250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Cost-per-mile (fuel/maint.)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06640" y="40325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Fleet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378440" y="4160520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2E9E5B"/>
          </a:solidFill>
          <a:ln/>
        </p:spPr>
      </p:sp>
      <p:sp>
        <p:nvSpPr>
          <p:cNvPr id="28" name="Text 26"/>
          <p:cNvSpPr/>
          <p:nvPr/>
        </p:nvSpPr>
        <p:spPr>
          <a:xfrm>
            <a:off x="10378440" y="41605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782312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782312"/>
            <a:ext cx="109728" cy="640080"/>
          </a:xfrm>
          <a:prstGeom prst="rect">
            <a:avLst/>
          </a:prstGeom>
          <a:solidFill>
            <a:srgbClr val="E0A415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78231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retention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06640" y="47823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People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378440" y="4910328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E0A415"/>
          </a:solidFill>
          <a:ln/>
        </p:spPr>
      </p:sp>
      <p:sp>
        <p:nvSpPr>
          <p:cNvPr id="34" name="Text 32"/>
          <p:cNvSpPr/>
          <p:nvPr/>
        </p:nvSpPr>
        <p:spPr>
          <a:xfrm>
            <a:off x="10378440" y="4910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532120"/>
            <a:ext cx="109728" cy="640080"/>
          </a:xfrm>
          <a:prstGeom prst="rect">
            <a:avLst/>
          </a:prstGeom>
          <a:solidFill>
            <a:srgbClr val="E0A415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5321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succession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406640" y="5532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+ CEO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378440" y="5660136"/>
            <a:ext cx="1188720" cy="384048"/>
          </a:xfrm>
          <a:prstGeom prst="roundRect">
            <a:avLst>
              <a:gd name="adj" fmla="val 16667"/>
            </a:avLst>
          </a:prstGeom>
          <a:solidFill>
            <a:srgbClr val="E0A415"/>
          </a:solidFill>
          <a:ln/>
        </p:spPr>
      </p:sp>
      <p:sp>
        <p:nvSpPr>
          <p:cNvPr id="40" name="Text 38"/>
          <p:cNvSpPr/>
          <p:nvPr/>
        </p:nvSpPr>
        <p:spPr>
          <a:xfrm>
            <a:off x="10378440" y="56601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565392"/>
            <a:ext cx="2011680" cy="29260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 CAPITAL  ·  Portfolio Talent Review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16249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  ·  Q2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38404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TALENT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People-linked signals to act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128016" cy="1874520"/>
          </a:xfrm>
          <a:prstGeom prst="rect">
            <a:avLst/>
          </a:prstGeom>
          <a:solidFill>
            <a:srgbClr val="E0A41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Hank Dreyer — CEO (founder)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Retiring ~18 mo · orderly handoff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783080"/>
            <a:ext cx="128016" cy="18745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Whitman — COO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6974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Hi-po · ready-now CEO successor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886200"/>
            <a:ext cx="128016" cy="187452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605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 Ngiraingas — CFO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8006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· low risk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388620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1A2238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3886200"/>
            <a:ext cx="128016" cy="1874520"/>
          </a:xfrm>
          <a:prstGeom prst="rect">
            <a:avLst/>
          </a:prstGeom>
          <a:solidFill>
            <a:srgbClr val="E0A415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1605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 Tibbets — VP People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8006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turnover improving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565392"/>
            <a:ext cx="2011680" cy="29260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 CAPITAL  ·  Portfolio Talent Review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16249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  ·  Q2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38404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8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COMPENSATION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cost by seat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84048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target comp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Hank Dreyer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$880,000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Walter Ngiraingas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Whitman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Lena Osei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Sales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Sanjay Mehta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Fleet &amp; Maint.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Carla Jennings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Safety &amp; Comp.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 Tibbets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47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People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65392"/>
            <a:ext cx="2011680" cy="29260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 CAPITAL  ·  Portfolio Talent Review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162495" y="6565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  ·  Q2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" cy="38404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ASKS TO THE 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decided this quarter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02920" cy="502920"/>
          </a:xfrm>
          <a:prstGeom prst="oval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dated 18-month CEO-succession plan and the COO equity grant.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oval">
            <a:avLst/>
          </a:prstGeom>
          <a:solidFill>
            <a:srgbClr val="2E7D5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743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accelerating the COO's VP Operations successor before he steps up.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02920" cy="502920"/>
          </a:xfrm>
          <a:prstGeom prst="oval">
            <a:avLst/>
          </a:prstGeom>
          <a:solidFill>
            <a:srgbClr val="2E7D5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703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proceeding from diligence to LOI on the tuck-in terminal.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502920" cy="502920"/>
          </a:xfrm>
          <a:prstGeom prst="oval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6634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phase 2 of the driver-retention program.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Ridgeline Freight &amp; Logistics — Q2 2026 Board Review</dc:title>
  <dc:subject>PptxGenJS Presentation</dc:subject>
  <dc:creator>DAW CAPITAL</dc:creator>
  <cp:lastModifiedBy>DAW CAPITAL</cp:lastModifiedBy>
  <cp:revision>1</cp:revision>
  <dcterms:created xsi:type="dcterms:W3CDTF">2026-06-13T12:52:33Z</dcterms:created>
  <dcterms:modified xsi:type="dcterms:W3CDTF">2026-06-13T12:52:33Z</dcterms:modified>
</cp:coreProperties>
</file>