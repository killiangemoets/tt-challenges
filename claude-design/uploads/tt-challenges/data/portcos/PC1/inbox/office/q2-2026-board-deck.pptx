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EBITDA ($M)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A223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Q3-25</c:v>
                  </c:pt>
                  <c:pt idx="1">
                    <c:v>Q4-25</c:v>
                  </c:pt>
                  <c:pt idx="2">
                    <c:v>Q1-26</c:v>
                  </c:pt>
                  <c:pt idx="3">
                    <c:v>Q2-26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</c:v>
                </c:pt>
                <c:pt idx="1">
                  <c:v>17.9</c:v>
                </c:pt>
                <c:pt idx="2">
                  <c:v>18.6</c:v>
                </c:pt>
                <c:pt idx="3">
                  <c:v>19.4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A223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79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79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6FB"/>
        </a:solidFill>
        <a:ln>
          <a:noFill/>
        </a:ln>
        <a:effectLst/>
      </c:spPr>
    </c:plotArea>
    <c:plotVisOnly val="1"/>
    <c:dispBlanksAs val="span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 CAPITAL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58368" y="10241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7A8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TALENT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Vantage Managed Services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58368" y="3520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Services · Managed Services Provider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4206240"/>
            <a:ext cx="2830068" cy="457200"/>
          </a:xfrm>
          <a:prstGeom prst="roundRect">
            <a:avLst>
              <a:gd name="adj" fmla="val 16000"/>
            </a:avLst>
          </a:prstGeom>
          <a:solidFill>
            <a:srgbClr val="E0A415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4206240"/>
            <a:ext cx="2830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· MIX-DEPENDENT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8368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 Board Review  ·  Generated 13 Jun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8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this company stands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1790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operating core tracking the thesis; recurring-revenue conversion is the one red item.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1A2238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468880"/>
            <a:ext cx="2697480" cy="109728"/>
          </a:xfrm>
          <a:prstGeom prst="rect">
            <a:avLst/>
          </a:prstGeom>
          <a:solidFill>
            <a:srgbClr val="E0A41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88036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$19.4M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21792" y="3886200"/>
            <a:ext cx="2368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(target $26M)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01568" y="246888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1A2238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01568" y="2468880"/>
            <a:ext cx="2697480" cy="109728"/>
          </a:xfrm>
          <a:prstGeom prst="rect">
            <a:avLst/>
          </a:prstGeom>
          <a:solidFill>
            <a:srgbClr val="E0A415"/>
          </a:solidFill>
          <a:ln/>
        </p:spPr>
      </p:sp>
      <p:sp>
        <p:nvSpPr>
          <p:cNvPr id="12" name="Text 10"/>
          <p:cNvSpPr/>
          <p:nvPr/>
        </p:nvSpPr>
        <p:spPr>
          <a:xfrm>
            <a:off x="3401568" y="288036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566160" y="3886200"/>
            <a:ext cx="2368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mix (target 70%)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45936" y="246888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1A2238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45936" y="2468880"/>
            <a:ext cx="2697480" cy="109728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16" name="Text 14"/>
          <p:cNvSpPr/>
          <p:nvPr/>
        </p:nvSpPr>
        <p:spPr>
          <a:xfrm>
            <a:off x="6345936" y="288036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510528" y="3886200"/>
            <a:ext cx="2368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attach (target 50%)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290304" y="246888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1A2238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290304" y="2468880"/>
            <a:ext cx="2697480" cy="109728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20" name="Text 18"/>
          <p:cNvSpPr/>
          <p:nvPr/>
        </p:nvSpPr>
        <p:spPr>
          <a:xfrm>
            <a:off x="9290304" y="288036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44%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9454896" y="3886200"/>
            <a:ext cx="2368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gross margin (target 48%)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6565392"/>
            <a:ext cx="2011680" cy="292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65653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 CAPITAL  ·  Portfolio Talent Review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162495" y="65653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 ·  Q2 2026  ·  CONFIDENTIAL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8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EBITDA run-rate by quarter ($M)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37360"/>
          <a:ext cx="75895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503920" y="1737360"/>
            <a:ext cx="3200400" cy="42976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8100000">
              <a:srgbClr val="1A2238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73252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READ-THROUGH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732520" y="2331720"/>
            <a:ext cx="2743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operating core tracking the thesis; recurring-revenue conversion is the one red item.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0" y="6565392"/>
            <a:ext cx="2011680" cy="292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65653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 CAPITAL  ·  Portfolio Talent Review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162495" y="65653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 ·  Q2 2026  ·  CONFIDENTIAL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8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VALUE-CREATION PLAN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Workstream status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1247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109728" cy="640080"/>
          </a:xfrm>
          <a:prstGeom prst="rect">
            <a:avLst/>
          </a:prstGeom>
          <a:solidFill>
            <a:srgbClr val="D1454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830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conversion / NRR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06640" y="1783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 + COO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378440" y="1911096"/>
            <a:ext cx="1188720" cy="384048"/>
          </a:xfrm>
          <a:prstGeom prst="roundRect">
            <a:avLst>
              <a:gd name="adj" fmla="val 16667"/>
            </a:avLst>
          </a:prstGeom>
          <a:solidFill>
            <a:srgbClr val="D14545"/>
          </a:solidFill>
          <a:ln/>
        </p:spPr>
      </p:sp>
      <p:sp>
        <p:nvSpPr>
          <p:cNvPr id="10" name="Text 8"/>
          <p:cNvSpPr/>
          <p:nvPr/>
        </p:nvSpPr>
        <p:spPr>
          <a:xfrm>
            <a:off x="10378440" y="191109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532888"/>
            <a:ext cx="11247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532888"/>
            <a:ext cx="109728" cy="640080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532888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/ MDR attach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06640" y="253288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378440" y="2660904"/>
            <a:ext cx="1188720" cy="384048"/>
          </a:xfrm>
          <a:prstGeom prst="roundRect">
            <a:avLst>
              <a:gd name="adj" fmla="val 16667"/>
            </a:avLst>
          </a:prstGeom>
          <a:solidFill>
            <a:srgbClr val="2E9E5B"/>
          </a:solidFill>
          <a:ln/>
        </p:spPr>
      </p:sp>
      <p:sp>
        <p:nvSpPr>
          <p:cNvPr id="16" name="Text 14"/>
          <p:cNvSpPr/>
          <p:nvPr/>
        </p:nvSpPr>
        <p:spPr>
          <a:xfrm>
            <a:off x="10378440" y="26609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282696"/>
            <a:ext cx="11247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282696"/>
            <a:ext cx="109728" cy="640080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282696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margin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06640" y="328269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 + VP Delivery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378440" y="3410712"/>
            <a:ext cx="1188720" cy="384048"/>
          </a:xfrm>
          <a:prstGeom prst="roundRect">
            <a:avLst>
              <a:gd name="adj" fmla="val 16667"/>
            </a:avLst>
          </a:prstGeom>
          <a:solidFill>
            <a:srgbClr val="2E9E5B"/>
          </a:solidFill>
          <a:ln/>
        </p:spPr>
      </p:sp>
      <p:sp>
        <p:nvSpPr>
          <p:cNvPr id="22" name="Text 20"/>
          <p:cNvSpPr/>
          <p:nvPr/>
        </p:nvSpPr>
        <p:spPr>
          <a:xfrm>
            <a:off x="10378440" y="34107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032504"/>
            <a:ext cx="11247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032504"/>
            <a:ext cx="109728" cy="640080"/>
          </a:xfrm>
          <a:prstGeom prst="rect">
            <a:avLst/>
          </a:prstGeom>
          <a:solidFill>
            <a:srgbClr val="E0A415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032504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Tuck-ins (1 of 2)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06640" y="403250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+ CFO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378440" y="4160520"/>
            <a:ext cx="1188720" cy="384048"/>
          </a:xfrm>
          <a:prstGeom prst="roundRect">
            <a:avLst>
              <a:gd name="adj" fmla="val 16667"/>
            </a:avLst>
          </a:prstGeom>
          <a:solidFill>
            <a:srgbClr val="E0A415"/>
          </a:solidFill>
          <a:ln/>
        </p:spPr>
      </p:sp>
      <p:sp>
        <p:nvSpPr>
          <p:cNvPr id="28" name="Text 26"/>
          <p:cNvSpPr/>
          <p:nvPr/>
        </p:nvSpPr>
        <p:spPr>
          <a:xfrm>
            <a:off x="10378440" y="41605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4782312"/>
            <a:ext cx="11247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782312"/>
            <a:ext cx="109728" cy="640080"/>
          </a:xfrm>
          <a:prstGeom prst="rect">
            <a:avLst/>
          </a:prstGeom>
          <a:solidFill>
            <a:srgbClr val="E0A415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478231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bridge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406640" y="478231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378440" y="4910328"/>
            <a:ext cx="1188720" cy="384048"/>
          </a:xfrm>
          <a:prstGeom prst="roundRect">
            <a:avLst>
              <a:gd name="adj" fmla="val 16667"/>
            </a:avLst>
          </a:prstGeom>
          <a:solidFill>
            <a:srgbClr val="E0A415"/>
          </a:solidFill>
          <a:ln/>
        </p:spPr>
      </p:sp>
      <p:sp>
        <p:nvSpPr>
          <p:cNvPr id="34" name="Text 32"/>
          <p:cNvSpPr/>
          <p:nvPr/>
        </p:nvSpPr>
        <p:spPr>
          <a:xfrm>
            <a:off x="10378440" y="49103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6565392"/>
            <a:ext cx="2011680" cy="292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65653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 CAPITAL  ·  Portfolio Talent Review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162495" y="65653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 ·  Q2 2026  ·  CONFIDENTIAL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8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&amp; TALENT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People-linked signals to act 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5321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1A2238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83080"/>
            <a:ext cx="128016" cy="1874520"/>
          </a:xfrm>
          <a:prstGeom prst="rect">
            <a:avLst/>
          </a:prstGeom>
          <a:solidFill>
            <a:srgbClr val="D1454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5740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Anika Sørensen — CTO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risk · ~$26M EV exposure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5321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1A2238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1783080"/>
            <a:ext cx="128016" cy="1874520"/>
          </a:xfrm>
          <a:prstGeom prst="rect">
            <a:avLst/>
          </a:prstGeom>
          <a:solidFill>
            <a:srgbClr val="E0A415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Balakrishnan — CFO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69748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Key-person risk · no bench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886200"/>
            <a:ext cx="55321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1A2238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886200"/>
            <a:ext cx="128016" cy="1874520"/>
          </a:xfrm>
          <a:prstGeom prst="rect">
            <a:avLst/>
          </a:prstGeom>
          <a:solidFill>
            <a:srgbClr val="D14545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16052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Brad Halvorsen — CRO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480060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plan · 90-day plan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200" y="3886200"/>
            <a:ext cx="55321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1A2238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3886200"/>
            <a:ext cx="128016" cy="1874520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416052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Devin Walsh — COO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480060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Hi-po · ready-now CEO successor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6565392"/>
            <a:ext cx="2011680" cy="292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5653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 CAPITAL  ·  Portfolio Talent Review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162495" y="65653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 ·  Q2 2026  ·  CONFIDENTIAL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8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COMPENSATION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cost by seat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4712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384048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target comp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Marcus Reuben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47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$940,000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Balakrishnan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47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Devin Walsh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47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$560,000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Anika Sørensen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47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$510,000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Brad Halvorsen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47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$440,000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Tomás Iglesias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47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Delivery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Renee Castellano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47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People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4"/>
          <p:cNvSpPr/>
          <p:nvPr/>
        </p:nvSpPr>
        <p:spPr>
          <a:xfrm>
            <a:off x="0" y="6565392"/>
            <a:ext cx="2011680" cy="292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65653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 CAPITAL  ·  Portfolio Talent Review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162495" y="65653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 ·  Q2 2026  ·  CONFIDENTIAL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ASKS TO THE BOARD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need decided this quarter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02920" cy="502920"/>
          </a:xfrm>
          <a:prstGeom prst="oval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7830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a market-rate CTO retention + equity package this quarter (protects ~$26M EV).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02920" cy="502920"/>
          </a:xfrm>
          <a:prstGeom prst="oval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74320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 a 90-day CRO plan with recurring-conversion gates; authorize a parallel search.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502920" cy="502920"/>
          </a:xfrm>
          <a:prstGeom prst="oval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37033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VP Finance search now; transfer lender relationships off the CFO.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502920" cy="502920"/>
          </a:xfrm>
          <a:prstGeom prst="oval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46634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Q3 go-live readiness for the offshore delivery pod.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C729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Vantage Managed Services — Q2 2026 Board Review</dc:title>
  <dc:subject>PptxGenJS Presentation</dc:subject>
  <dc:creator>DAW CAPITAL</dc:creator>
  <cp:lastModifiedBy>DAW CAPITAL</cp:lastModifiedBy>
  <cp:revision>1</cp:revision>
  <dcterms:created xsi:type="dcterms:W3CDTF">2026-06-13T12:52:33Z</dcterms:created>
  <dcterms:modified xsi:type="dcterms:W3CDTF">2026-06-13T12:52:33Z</dcterms:modified>
</cp:coreProperties>
</file>